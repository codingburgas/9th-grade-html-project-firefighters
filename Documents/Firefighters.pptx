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6</a:t>
            </a:r>
            <a:endParaRPr lang="en-US" dirty="0"/>
          </a:p>
          <a:p>
            <a:pPr lvl="6"/>
            <a:r>
              <a:rPr lang="en-US" dirty="0"/>
              <a:t>7</a:t>
            </a:r>
            <a:endParaRPr lang="en-US" dirty="0"/>
          </a:p>
          <a:p>
            <a:pPr lvl="7"/>
            <a:r>
              <a:rPr lang="en-US" dirty="0"/>
              <a:t>8</a:t>
            </a:r>
            <a:endParaRPr lang="en-US" dirty="0"/>
          </a:p>
          <a:p>
            <a:pPr lvl="8"/>
            <a:r>
              <a:rPr lang="en-US" dirty="0"/>
              <a:t>9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>
            <a:grpSpLocks noGrp="1" noRot="1" noChangeAspect="1" noMove="1" noResize="1" noUngrp="1"/>
          </p:cNvGrpSpPr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2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6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2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5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0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2680" y="-6706"/>
            <a:ext cx="12194680" cy="41277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Картина, която съдържа Графика, лого, Шрифт, дизайн&#10;&#10;Генерирано от ИИ съдържание може да е неправилно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3779" y="568335"/>
            <a:ext cx="4616122" cy="3230853"/>
          </a:xfrm>
          <a:prstGeom prst="rect">
            <a:avLst/>
          </a:prstGeom>
          <a:ln w="12700">
            <a:noFill/>
          </a:ln>
        </p:spPr>
      </p:pic>
      <p:grpSp>
        <p:nvGrpSpPr>
          <p:cNvPr id="34" name="Group 33"/>
          <p:cNvGrpSpPr>
            <a:grpSpLocks noGrp="1" noRot="1" noChangeAspect="1" noMove="1" noResize="1" noUngrp="1"/>
          </p:cNvGrpSpPr>
          <p:nvPr/>
        </p:nvGrpSpPr>
        <p:grpSpPr>
          <a:xfrm>
            <a:off x="1" y="4206292"/>
            <a:ext cx="12192755" cy="1771275"/>
            <a:chOff x="1" y="3893141"/>
            <a:chExt cx="12192755" cy="1771275"/>
          </a:xfrm>
        </p:grpSpPr>
        <p:sp>
          <p:nvSpPr>
            <p:cNvPr id="35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" y="3893141"/>
              <a:ext cx="12192755" cy="14202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683982" y="4293388"/>
            <a:ext cx="8833655" cy="727748"/>
          </a:xfrm>
        </p:spPr>
        <p:txBody>
          <a:bodyPr>
            <a:normAutofit fontScale="90000"/>
          </a:bodyPr>
          <a:lstStyle/>
          <a:p>
            <a:r>
              <a:rPr lang="bg-BG" sz="4000" b="1" err="1">
                <a:ea typeface="Calibri Light" panose="020F0302020204030204"/>
                <a:cs typeface="Calibri Light" panose="020F0302020204030204"/>
              </a:rPr>
              <a:t>Presentation</a:t>
            </a:r>
            <a:endParaRPr lang="bg-BG" sz="4000" b="1">
              <a:ea typeface="Calibri Light" panose="020F0302020204030204"/>
              <a:cs typeface="Calibri Light" panose="020F03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ea typeface="Calibri Light" panose="020F0302020204030204"/>
                <a:cs typeface="Calibri Light" panose="020F0302020204030204"/>
              </a:rPr>
              <a:t>Our</a:t>
            </a:r>
            <a:r>
              <a:rPr lang="bg-BG" dirty="0">
                <a:ea typeface="Calibri Light" panose="020F0302020204030204"/>
                <a:cs typeface="Calibri Light" panose="020F0302020204030204"/>
              </a:rPr>
              <a:t> </a:t>
            </a:r>
            <a:r>
              <a:rPr lang="bg-BG" dirty="0" err="1">
                <a:ea typeface="Calibri Light" panose="020F0302020204030204"/>
                <a:cs typeface="Calibri Light" panose="020F0302020204030204"/>
              </a:rPr>
              <a:t>members</a:t>
            </a:r>
            <a:r>
              <a:rPr lang="bg-BG" dirty="0">
                <a:ea typeface="Calibri Light" panose="020F0302020204030204"/>
                <a:cs typeface="Calibri Light" panose="020F0302020204030204"/>
              </a:rPr>
              <a:t>: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122" y="1503402"/>
            <a:ext cx="3244171" cy="84137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bg-BG" sz="2400" err="1"/>
              <a:t>Scrum</a:t>
            </a:r>
            <a:r>
              <a:rPr lang="bg-BG" sz="2400" dirty="0"/>
              <a:t> </a:t>
            </a:r>
            <a:r>
              <a:rPr lang="bg-BG" sz="2400" err="1"/>
              <a:t>Trainer</a:t>
            </a:r>
            <a:r>
              <a:rPr lang="bg-BG" sz="2400" dirty="0"/>
              <a:t>, </a:t>
            </a:r>
            <a:r>
              <a:rPr lang="bg-BG" sz="2400" err="1"/>
              <a:t>Frontend</a:t>
            </a:r>
            <a:r>
              <a:rPr lang="bg-BG" sz="2400" dirty="0"/>
              <a:t> </a:t>
            </a:r>
            <a:r>
              <a:rPr lang="bg-BG" sz="2400" err="1"/>
              <a:t>Developer</a:t>
            </a:r>
            <a:endParaRPr lang="bg-BG" sz="2400"/>
          </a:p>
        </p:txBody>
      </p:sp>
      <p:pic>
        <p:nvPicPr>
          <p:cNvPr id="4" name="Картина 3" descr="Картина, която съдържа човек, Човешко лице, вежда, устна&#10;&#10;Генерирано от ИИ съдържание може да е неправилно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6995" y="2910825"/>
            <a:ext cx="2005913" cy="19068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Картина 4" descr="Картина, която съдържа човек, дрехи, врат, Човешко лице&#10;&#10;Генерирано от ИИ съдържание може да е неправилно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886" y="429914"/>
            <a:ext cx="1992526" cy="19204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Текстово поле 5"/>
          <p:cNvSpPr txBox="1"/>
          <p:nvPr/>
        </p:nvSpPr>
        <p:spPr>
          <a:xfrm>
            <a:off x="7239574" y="491861"/>
            <a:ext cx="401173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bg-BG" sz="2000" err="1"/>
              <a:t>Mihail</a:t>
            </a:r>
            <a:r>
              <a:rPr lang="bg-BG" sz="2000" dirty="0"/>
              <a:t> </a:t>
            </a:r>
            <a:r>
              <a:rPr lang="bg-BG" sz="2000" err="1"/>
              <a:t>Karanikolov</a:t>
            </a:r>
            <a:endParaRPr lang="bg-BG" sz="2000"/>
          </a:p>
          <a:p>
            <a:r>
              <a:rPr lang="bg-BG" sz="2000" dirty="0">
                <a:solidFill>
                  <a:srgbClr val="0070C0"/>
                </a:solidFill>
              </a:rPr>
              <a:t>9G</a:t>
            </a:r>
            <a:endParaRPr lang="bg-BG" sz="2000" dirty="0">
              <a:solidFill>
                <a:srgbClr val="0070C0"/>
              </a:solidFill>
            </a:endParaRPr>
          </a:p>
        </p:txBody>
      </p:sp>
      <p:sp>
        <p:nvSpPr>
          <p:cNvPr id="7" name="Текстово поле 6"/>
          <p:cNvSpPr txBox="1"/>
          <p:nvPr/>
        </p:nvSpPr>
        <p:spPr>
          <a:xfrm>
            <a:off x="7347168" y="3012647"/>
            <a:ext cx="327394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bg-BG" sz="2000" err="1"/>
              <a:t>Damyan</a:t>
            </a:r>
            <a:r>
              <a:rPr lang="bg-BG" sz="2000" dirty="0"/>
              <a:t> </a:t>
            </a:r>
            <a:r>
              <a:rPr lang="bg-BG" sz="2000" err="1"/>
              <a:t>Kerchev</a:t>
            </a:r>
            <a:endParaRPr lang="bg-BG" sz="2000" dirty="0"/>
          </a:p>
          <a:p>
            <a:r>
              <a:rPr lang="bg-BG" sz="2000" dirty="0">
                <a:solidFill>
                  <a:srgbClr val="FFFF00"/>
                </a:solidFill>
              </a:rPr>
              <a:t>9A</a:t>
            </a:r>
            <a:endParaRPr lang="bg-BG" sz="2000" dirty="0">
              <a:solidFill>
                <a:srgbClr val="FFFF00"/>
              </a:solidFill>
            </a:endParaRPr>
          </a:p>
        </p:txBody>
      </p:sp>
      <p:sp>
        <p:nvSpPr>
          <p:cNvPr id="8" name="Текстово поле 7"/>
          <p:cNvSpPr txBox="1"/>
          <p:nvPr/>
        </p:nvSpPr>
        <p:spPr>
          <a:xfrm>
            <a:off x="7120327" y="3985317"/>
            <a:ext cx="429337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/>
              <a:buChar char="§"/>
            </a:pPr>
            <a:r>
              <a:rPr lang="bg-BG" sz="2400" err="1"/>
              <a:t>Backend</a:t>
            </a:r>
            <a:r>
              <a:rPr lang="bg-BG" sz="2400" dirty="0"/>
              <a:t> </a:t>
            </a:r>
            <a:r>
              <a:rPr lang="bg-BG" sz="2400" err="1"/>
              <a:t>Developer</a:t>
            </a:r>
            <a:r>
              <a:rPr lang="bg-BG" sz="2400" dirty="0"/>
              <a:t>, </a:t>
            </a:r>
            <a:r>
              <a:rPr lang="bg-BG" sz="2400" err="1"/>
              <a:t>Designer</a:t>
            </a:r>
            <a:endParaRPr lang="bg-BG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Картина 8" descr="Картина, която съдържа анимирана рисунка&#10;&#10;Генерирано от ИИ съдържание може да е неправилно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8297" y="4242486"/>
            <a:ext cx="1606378" cy="16990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Картина 6" descr="Картина, която съдържа лого, символ, Електриково синьо, екранна снимка&#10;&#10;Генерирано от ИИ съдържание може да е неправилно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408" y="2753110"/>
            <a:ext cx="1331183" cy="13517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199" y="2195466"/>
            <a:ext cx="4013843" cy="2456442"/>
          </a:xfrm>
        </p:spPr>
        <p:txBody>
          <a:bodyPr/>
          <a:lstStyle/>
          <a:p>
            <a:r>
              <a:rPr lang="bg-BG" dirty="0" err="1">
                <a:ea typeface="Calibri Light" panose="020F0302020204030204"/>
                <a:cs typeface="Calibri Light" panose="020F0302020204030204"/>
              </a:rPr>
              <a:t>Used</a:t>
            </a:r>
            <a:r>
              <a:rPr lang="bg-BG" dirty="0">
                <a:ea typeface="Calibri Light" panose="020F0302020204030204"/>
                <a:cs typeface="Calibri Light" panose="020F0302020204030204"/>
              </a:rPr>
              <a:t> Technologies/</a:t>
            </a:r>
            <a:r>
              <a:rPr lang="bg-BG" dirty="0" err="1">
                <a:ea typeface="Calibri Light" panose="020F0302020204030204"/>
                <a:cs typeface="Calibri Light" panose="020F0302020204030204"/>
              </a:rPr>
              <a:t>Apps</a:t>
            </a:r>
            <a:endParaRPr lang="bg-BG" dirty="0" err="1"/>
          </a:p>
        </p:txBody>
      </p:sp>
      <p:pic>
        <p:nvPicPr>
          <p:cNvPr id="4" name="Content Placeholder 3" descr="Картина, която съдържа черен, тъмнина&#10;&#10;Генерирано от ИИ съдържание може да е неправилно.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59801" y="638429"/>
            <a:ext cx="1191487" cy="11605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Картина 5" descr="Картина, която съдържа екранна снимка, Графика, символ, дизайн&#10;&#10;Генерирано от ИИ съдържание може да е неправилно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024" y="2192295"/>
            <a:ext cx="1351005" cy="13510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Картина 7" descr="Картина, която съдържа лого, символ, Графика, Шрифт&#10;&#10;Генерирано от ИИ съдържание може да е неправилно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014" y="4981446"/>
            <a:ext cx="1703945" cy="17039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Текстово поле 9"/>
          <p:cNvSpPr txBox="1"/>
          <p:nvPr/>
        </p:nvSpPr>
        <p:spPr>
          <a:xfrm>
            <a:off x="5959194" y="642722"/>
            <a:ext cx="19873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bg-BG" sz="2400" err="1">
                <a:ea typeface="+mn-lt"/>
                <a:cs typeface="+mn-lt"/>
              </a:rPr>
              <a:t>GitHub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for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submitting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out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work</a:t>
            </a:r>
            <a:endParaRPr lang="bg-BG" sz="2000" dirty="0" err="1"/>
          </a:p>
        </p:txBody>
      </p:sp>
      <p:pic>
        <p:nvPicPr>
          <p:cNvPr id="11" name="Картина 10" descr="Visual Studio Code Logo Transpar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5563" y="574589"/>
            <a:ext cx="1353069" cy="12294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Текстово поле 12"/>
          <p:cNvSpPr txBox="1"/>
          <p:nvPr/>
        </p:nvSpPr>
        <p:spPr>
          <a:xfrm>
            <a:off x="8787301" y="645798"/>
            <a:ext cx="339131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bg-BG" sz="2400" err="1">
                <a:solidFill>
                  <a:srgbClr val="0070C0"/>
                </a:solidFill>
              </a:rPr>
              <a:t>Visual</a:t>
            </a:r>
            <a:r>
              <a:rPr lang="bg-BG" sz="2400" dirty="0">
                <a:solidFill>
                  <a:srgbClr val="0070C0"/>
                </a:solidFill>
              </a:rPr>
              <a:t> </a:t>
            </a:r>
            <a:r>
              <a:rPr lang="bg-BG" sz="2400" err="1">
                <a:solidFill>
                  <a:srgbClr val="0070C0"/>
                </a:solidFill>
              </a:rPr>
              <a:t>Studio</a:t>
            </a:r>
            <a:r>
              <a:rPr lang="bg-BG" sz="2400" dirty="0">
                <a:solidFill>
                  <a:srgbClr val="0070C0"/>
                </a:solidFill>
              </a:rPr>
              <a:t> </a:t>
            </a:r>
            <a:r>
              <a:rPr lang="bg-BG" sz="2400" err="1">
                <a:solidFill>
                  <a:srgbClr val="0070C0"/>
                </a:solidFill>
              </a:rPr>
              <a:t>Code</a:t>
            </a:r>
            <a:r>
              <a:rPr lang="bg-BG" sz="2400" dirty="0"/>
              <a:t> </a:t>
            </a:r>
            <a:r>
              <a:rPr lang="bg-BG" sz="2400" err="1"/>
              <a:t>to</a:t>
            </a:r>
            <a:r>
              <a:rPr lang="bg-BG" sz="2400" dirty="0"/>
              <a:t> </a:t>
            </a:r>
            <a:r>
              <a:rPr lang="bg-BG" sz="2400" err="1"/>
              <a:t>make</a:t>
            </a:r>
            <a:r>
              <a:rPr lang="bg-BG" sz="2400" dirty="0"/>
              <a:t> </a:t>
            </a:r>
            <a:r>
              <a:rPr lang="bg-BG" sz="2400" err="1"/>
              <a:t>make</a:t>
            </a:r>
            <a:r>
              <a:rPr lang="bg-BG" sz="2400" dirty="0"/>
              <a:t> </a:t>
            </a:r>
            <a:r>
              <a:rPr lang="bg-BG" sz="2400" err="1"/>
              <a:t>the</a:t>
            </a:r>
            <a:r>
              <a:rPr lang="bg-BG" sz="2400" dirty="0"/>
              <a:t> </a:t>
            </a:r>
            <a:r>
              <a:rPr lang="bg-BG" sz="2400" err="1"/>
              <a:t>project</a:t>
            </a:r>
            <a:endParaRPr lang="bg-BG" sz="2400"/>
          </a:p>
        </p:txBody>
      </p:sp>
      <p:sp>
        <p:nvSpPr>
          <p:cNvPr id="14" name="Текстово поле 13"/>
          <p:cNvSpPr txBox="1"/>
          <p:nvPr/>
        </p:nvSpPr>
        <p:spPr>
          <a:xfrm>
            <a:off x="7673479" y="3075098"/>
            <a:ext cx="45092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bg-BG" sz="2400" dirty="0">
                <a:solidFill>
                  <a:srgbClr val="C00000"/>
                </a:solidFill>
              </a:rPr>
              <a:t>PowerPoint </a:t>
            </a:r>
            <a:r>
              <a:rPr lang="bg-BG" sz="2400" dirty="0"/>
              <a:t>&amp; </a:t>
            </a:r>
            <a:r>
              <a:rPr lang="bg-BG" sz="2400" dirty="0">
                <a:solidFill>
                  <a:srgbClr val="00B0F0"/>
                </a:solidFill>
              </a:rPr>
              <a:t>Word</a:t>
            </a:r>
            <a:r>
              <a:rPr lang="bg-BG" sz="2400" dirty="0"/>
              <a:t> </a:t>
            </a:r>
            <a:r>
              <a:rPr lang="bg-BG" sz="2400" dirty="0" err="1"/>
              <a:t>for</a:t>
            </a:r>
            <a:r>
              <a:rPr lang="bg-BG" sz="2400" dirty="0"/>
              <a:t> </a:t>
            </a:r>
            <a:r>
              <a:rPr lang="bg-BG" sz="2400" dirty="0" err="1">
                <a:solidFill>
                  <a:srgbClr val="C00000"/>
                </a:solidFill>
              </a:rPr>
              <a:t>Presentation</a:t>
            </a:r>
            <a:r>
              <a:rPr lang="bg-BG" sz="2400" dirty="0"/>
              <a:t> &amp; </a:t>
            </a:r>
            <a:r>
              <a:rPr lang="bg-BG" sz="2400" dirty="0" err="1">
                <a:solidFill>
                  <a:srgbClr val="00B0F0"/>
                </a:solidFill>
              </a:rPr>
              <a:t>Documentation</a:t>
            </a:r>
            <a:endParaRPr lang="bg-BG" sz="2400">
              <a:solidFill>
                <a:srgbClr val="00B0F0"/>
              </a:solidFill>
            </a:endParaRPr>
          </a:p>
        </p:txBody>
      </p:sp>
      <p:sp>
        <p:nvSpPr>
          <p:cNvPr id="16" name="Текстово поле 15"/>
          <p:cNvSpPr txBox="1"/>
          <p:nvPr/>
        </p:nvSpPr>
        <p:spPr>
          <a:xfrm>
            <a:off x="8218735" y="4789024"/>
            <a:ext cx="417218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bg-BG" sz="2400" err="1">
                <a:solidFill>
                  <a:schemeClr val="accent5">
                    <a:lumMod val="76000"/>
                  </a:schemeClr>
                </a:solidFill>
              </a:rPr>
              <a:t>Discord</a:t>
            </a:r>
            <a:r>
              <a:rPr lang="bg-BG" sz="2400" dirty="0"/>
              <a:t> &amp; </a:t>
            </a:r>
            <a:r>
              <a:rPr lang="bg-BG" sz="2400" dirty="0">
                <a:solidFill>
                  <a:srgbClr val="002060"/>
                </a:solidFill>
              </a:rPr>
              <a:t>Microsoft </a:t>
            </a:r>
            <a:r>
              <a:rPr lang="bg-BG" sz="2400" err="1">
                <a:solidFill>
                  <a:srgbClr val="002060"/>
                </a:solidFill>
              </a:rPr>
              <a:t>Teams</a:t>
            </a:r>
            <a:r>
              <a:rPr lang="bg-BG" sz="2400" dirty="0"/>
              <a:t> </a:t>
            </a:r>
            <a:r>
              <a:rPr lang="bg-BG" sz="2400" err="1"/>
              <a:t>for</a:t>
            </a:r>
            <a:r>
              <a:rPr lang="bg-BG" sz="2400" dirty="0"/>
              <a:t>  </a:t>
            </a:r>
            <a:r>
              <a:rPr lang="bg-BG" sz="2400" err="1"/>
              <a:t>communication</a:t>
            </a:r>
            <a:r>
              <a:rPr lang="bg-BG" sz="2400" dirty="0"/>
              <a:t> </a:t>
            </a:r>
            <a:endParaRPr lang="bg-BG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400" b="1" dirty="0" err="1">
                <a:ea typeface="Calibri Light" panose="020F0302020204030204"/>
                <a:cs typeface="Calibri Light" panose="020F0302020204030204"/>
              </a:rPr>
              <a:t>Our</a:t>
            </a:r>
            <a:r>
              <a:rPr lang="bg-BG" sz="4400" b="1" dirty="0">
                <a:ea typeface="Calibri Light" panose="020F0302020204030204"/>
                <a:cs typeface="Calibri Light" panose="020F0302020204030204"/>
              </a:rPr>
              <a:t> </a:t>
            </a:r>
            <a:r>
              <a:rPr lang="bg-BG" sz="4400" b="1" dirty="0" err="1">
                <a:ea typeface="Calibri Light" panose="020F0302020204030204"/>
                <a:cs typeface="Calibri Light" panose="020F0302020204030204"/>
              </a:rPr>
              <a:t>Idea</a:t>
            </a:r>
            <a:r>
              <a:rPr lang="bg-BG" sz="4400" b="1" dirty="0">
                <a:ea typeface="Calibri Light" panose="020F0302020204030204"/>
                <a:cs typeface="Calibri Light" panose="020F0302020204030204"/>
              </a:rPr>
              <a:t> &amp; </a:t>
            </a:r>
            <a:r>
              <a:rPr lang="bg-BG" sz="4400" b="1" dirty="0" err="1">
                <a:ea typeface="Calibri Light" panose="020F0302020204030204"/>
                <a:cs typeface="Calibri Light" panose="020F0302020204030204"/>
              </a:rPr>
              <a:t>Goal</a:t>
            </a:r>
            <a:r>
              <a:rPr lang="bg-BG" sz="4400" b="1" dirty="0">
                <a:ea typeface="Calibri Light" panose="020F0302020204030204"/>
                <a:cs typeface="Calibri Light" panose="020F0302020204030204"/>
              </a:rPr>
              <a:t>:</a:t>
            </a:r>
            <a:endParaRPr lang="bg-BG" sz="4400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2400" dirty="0">
                <a:ea typeface="+mn-lt"/>
                <a:cs typeface="+mn-lt"/>
              </a:rPr>
              <a:t>A </a:t>
            </a:r>
            <a:r>
              <a:rPr lang="bg-BG" sz="2400" err="1">
                <a:ea typeface="+mn-lt"/>
                <a:cs typeface="+mn-lt"/>
              </a:rPr>
              <a:t>platform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where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people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can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report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real-time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incidents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like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wildfires</a:t>
            </a:r>
            <a:r>
              <a:rPr lang="bg-BG" sz="2400" dirty="0">
                <a:ea typeface="+mn-lt"/>
                <a:cs typeface="+mn-lt"/>
              </a:rPr>
              <a:t>, </a:t>
            </a:r>
            <a:r>
              <a:rPr lang="bg-BG" sz="2400" err="1">
                <a:ea typeface="+mn-lt"/>
                <a:cs typeface="+mn-lt"/>
              </a:rPr>
              <a:t>floods</a:t>
            </a:r>
            <a:r>
              <a:rPr lang="bg-BG" sz="2400" dirty="0">
                <a:ea typeface="+mn-lt"/>
                <a:cs typeface="+mn-lt"/>
              </a:rPr>
              <a:t>, </a:t>
            </a:r>
            <a:r>
              <a:rPr lang="bg-BG" sz="2400" err="1">
                <a:ea typeface="+mn-lt"/>
                <a:cs typeface="+mn-lt"/>
              </a:rPr>
              <a:t>or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accidents</a:t>
            </a:r>
            <a:r>
              <a:rPr lang="bg-BG" sz="2400" dirty="0">
                <a:ea typeface="+mn-lt"/>
                <a:cs typeface="+mn-lt"/>
              </a:rPr>
              <a:t>, </a:t>
            </a:r>
            <a:r>
              <a:rPr lang="bg-BG" sz="2400" err="1">
                <a:ea typeface="+mn-lt"/>
                <a:cs typeface="+mn-lt"/>
              </a:rPr>
              <a:t>and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also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access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expert-vetted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safety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articles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to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stay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informed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and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prepared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during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err="1">
                <a:ea typeface="+mn-lt"/>
                <a:cs typeface="+mn-lt"/>
              </a:rPr>
              <a:t>emergencies</a:t>
            </a:r>
            <a:r>
              <a:rPr lang="bg-BG" sz="2400" dirty="0">
                <a:ea typeface="+mn-lt"/>
                <a:cs typeface="+mn-lt"/>
              </a:rPr>
              <a:t>.</a:t>
            </a:r>
            <a:endParaRPr lang="bg-BG" sz="2400" dirty="0">
              <a:ea typeface="+mn-lt"/>
              <a:cs typeface="+mn-lt"/>
            </a:endParaRPr>
          </a:p>
          <a:p>
            <a:r>
              <a:rPr lang="bg-BG" sz="2400" dirty="0" err="1">
                <a:ea typeface="+mn-lt"/>
                <a:cs typeface="+mn-lt"/>
              </a:rPr>
              <a:t>Learning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dirty="0" err="1">
                <a:ea typeface="+mn-lt"/>
                <a:cs typeface="+mn-lt"/>
              </a:rPr>
              <a:t>how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dirty="0" err="1">
                <a:ea typeface="+mn-lt"/>
                <a:cs typeface="+mn-lt"/>
              </a:rPr>
              <a:t>to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dirty="0" err="1">
                <a:ea typeface="+mn-lt"/>
                <a:cs typeface="+mn-lt"/>
              </a:rPr>
              <a:t>respond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dirty="0" err="1">
                <a:ea typeface="+mn-lt"/>
                <a:cs typeface="+mn-lt"/>
              </a:rPr>
              <a:t>effectively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dirty="0" err="1">
                <a:ea typeface="+mn-lt"/>
                <a:cs typeface="+mn-lt"/>
              </a:rPr>
              <a:t>to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dirty="0" err="1">
                <a:ea typeface="+mn-lt"/>
                <a:cs typeface="+mn-lt"/>
              </a:rPr>
              <a:t>dangerous</a:t>
            </a:r>
            <a:r>
              <a:rPr lang="bg-BG" sz="2400" dirty="0">
                <a:ea typeface="+mn-lt"/>
                <a:cs typeface="+mn-lt"/>
              </a:rPr>
              <a:t> </a:t>
            </a:r>
            <a:r>
              <a:rPr lang="bg-BG" sz="2400" dirty="0" err="1">
                <a:ea typeface="+mn-lt"/>
                <a:cs typeface="+mn-lt"/>
              </a:rPr>
              <a:t>situations</a:t>
            </a:r>
            <a:r>
              <a:rPr lang="bg-BG" dirty="0">
                <a:ea typeface="+mn-lt"/>
                <a:cs typeface="+mn-lt"/>
              </a:rPr>
              <a:t>.</a:t>
            </a:r>
            <a:endParaRPr lang="bg-B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ea typeface="Calibri Light" panose="020F0302020204030204"/>
                <a:cs typeface="Calibri Light" panose="020F0302020204030204"/>
              </a:rPr>
              <a:t>Early</a:t>
            </a:r>
            <a:r>
              <a:rPr lang="bg-BG" dirty="0">
                <a:ea typeface="Calibri Light" panose="020F0302020204030204"/>
                <a:cs typeface="Calibri Light" panose="020F0302020204030204"/>
              </a:rPr>
              <a:t> </a:t>
            </a:r>
            <a:r>
              <a:rPr lang="bg-BG" dirty="0" err="1">
                <a:ea typeface="Calibri Light" panose="020F0302020204030204"/>
                <a:cs typeface="Calibri Light" panose="020F0302020204030204"/>
              </a:rPr>
              <a:t>Concept</a:t>
            </a:r>
            <a:endParaRPr lang="bg-BG" dirty="0" err="1"/>
          </a:p>
        </p:txBody>
      </p:sp>
      <p:pic>
        <p:nvPicPr>
          <p:cNvPr id="4" name="Content Placeholder 3" descr="Картина, която съдържа електроника, текст, дисплей, компютър&#10;&#10;Генерирано от ИИ съдържание може да е неправилно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25683" y="1255797"/>
            <a:ext cx="5867400" cy="4343400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350" y="1537335"/>
            <a:ext cx="5057775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Grp="1" noRot="1" noChangeAspect="1" noMove="1" noResize="1" noUngrp="1"/>
          </p:cNvGrpSpPr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0" name="Group 29"/>
          <p:cNvGrpSpPr>
            <a:grpSpLocks noGrp="1" noRot="1" noChangeAspect="1" noMove="1" noResize="1" noUngrp="1"/>
          </p:cNvGrpSpPr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1" name="Rectangle 30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>
            <a:grpSpLocks noGrp="1" noRot="1" noChangeAspect="1" noMove="1" noResize="1" noUngrp="1"/>
          </p:cNvGrpSpPr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58" name="Group 57"/>
          <p:cNvGrpSpPr>
            <a:grpSpLocks noGrp="1" noRot="1" noChangeAspect="1" noMove="1" noResize="1" noUngrp="1"/>
          </p:cNvGrpSpPr>
          <p:nvPr/>
        </p:nvGrpSpPr>
        <p:grpSpPr>
          <a:xfrm>
            <a:off x="807084" y="1186483"/>
            <a:ext cx="3822597" cy="4477933"/>
            <a:chOff x="807084" y="1186483"/>
            <a:chExt cx="3822597" cy="4477933"/>
          </a:xfrm>
        </p:grpSpPr>
        <p:sp>
          <p:nvSpPr>
            <p:cNvPr id="59" name="Rectangle 58"/>
            <p:cNvSpPr/>
            <p:nvPr/>
          </p:nvSpPr>
          <p:spPr>
            <a:xfrm>
              <a:off x="807531" y="1186483"/>
              <a:ext cx="3821702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39"/>
            <p:cNvSpPr/>
            <p:nvPr/>
          </p:nvSpPr>
          <p:spPr>
            <a:xfrm rot="10800000">
              <a:off x="2514766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07084" y="1991156"/>
              <a:ext cx="382259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415" y="2075504"/>
            <a:ext cx="3654569" cy="2042725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600"/>
              <a:t>Let's move on to our project!</a:t>
            </a:r>
            <a:endParaRPr lang="en-US" sz="4600"/>
          </a:p>
        </p:txBody>
      </p:sp>
      <p:sp>
        <p:nvSpPr>
          <p:cNvPr id="63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440150" y="-6706"/>
            <a:ext cx="6751849" cy="6871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Картина, която съдържа графична колекция&#10;&#10;Генерирано от ИИ съдържание може да е неправилно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57262" y="835075"/>
            <a:ext cx="6120318" cy="51969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WPS Presentation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Wingdings</vt:lpstr>
      <vt:lpstr>Calibri</vt:lpstr>
      <vt:lpstr>Rockwell</vt:lpstr>
      <vt:lpstr>Microsoft YaHei</vt:lpstr>
      <vt:lpstr>Arial Unicode MS</vt:lpstr>
      <vt:lpstr>Atlas</vt:lpstr>
      <vt:lpstr>Presentation</vt:lpstr>
      <vt:lpstr>Our members:</vt:lpstr>
      <vt:lpstr>Used Technologies/Apps</vt:lpstr>
      <vt:lpstr>Our Idea &amp; Goal:</vt:lpstr>
      <vt:lpstr>Early Concept</vt:lpstr>
      <vt:lpstr>Let's move on to our project!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Mihail Karanikolov</cp:lastModifiedBy>
  <cp:revision>192</cp:revision>
  <dcterms:created xsi:type="dcterms:W3CDTF">2025-06-07T05:42:00Z</dcterms:created>
  <dcterms:modified xsi:type="dcterms:W3CDTF">2025-06-10T17:18:38Z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A00EC6AFC5434AEFB19E9255A62DE8F2_12</vt:lpwstr>
  </property>
  <property fmtid="{D5CDD505-2E9C-101B-9397-08002B2CF9AE}" pid="3" name="KSOProductBuildVer">
    <vt:lpwstr>1033-12.2.0.21179</vt:lpwstr>
  </property>
</Properties>
</file>